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91" r:id="rId2"/>
    <p:sldId id="281" r:id="rId3"/>
    <p:sldId id="298" r:id="rId4"/>
    <p:sldId id="299" r:id="rId5"/>
    <p:sldId id="300" r:id="rId6"/>
    <p:sldId id="290" r:id="rId7"/>
    <p:sldId id="301" r:id="rId8"/>
    <p:sldId id="302" r:id="rId9"/>
    <p:sldId id="293" r:id="rId10"/>
    <p:sldId id="294" r:id="rId11"/>
    <p:sldId id="303" r:id="rId12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43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SIH25023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AyurSutra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Panchakarma Patient Management and therapy scheduling Software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MedTech/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92874"/>
            <a:ext cx="12191999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1797784"/>
            <a:ext cx="12191999" cy="3354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</a:t>
            </a:r>
          </a:p>
          <a:p>
            <a:r>
              <a:rPr lang="en-US" sz="2000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    </a:t>
            </a:r>
          </a:p>
          <a:p>
            <a:r>
              <a:rPr lang="en-US" sz="2000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</a:t>
            </a:r>
            <a:endParaRPr lang="en-US" sz="28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2"/>
                </a:solidFill>
              </a:rPr>
              <a:t>AYURSUTRA</a:t>
            </a:r>
            <a:r>
              <a:rPr lang="en-IN" sz="2800" dirty="0">
                <a:solidFill>
                  <a:schemeClr val="tx2"/>
                </a:solidFill>
              </a:rPr>
              <a:t> – a web-based software designed to digitize Panchakarma therapy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2"/>
                </a:solidFill>
              </a:rPr>
              <a:t>Provides Patient Dashboards, Doctor &amp; Therapist Panels, and Admin Control.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2"/>
                </a:solidFill>
              </a:rPr>
              <a:t>Simplifies therapy scheduling, patient tracking, and progress monitoring.</a:t>
            </a:r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561667"/>
            <a:ext cx="3204000" cy="159811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79CB5-8F5D-C0FC-BFDA-6B9A16F3E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240" y="1083733"/>
            <a:ext cx="10972800" cy="5943599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 Detailed Explanation of the Proposed Solution:</a:t>
            </a:r>
          </a:p>
          <a:p>
            <a:pPr marL="0" indent="0">
              <a:buNone/>
            </a:pPr>
            <a:endParaRPr lang="en-US" sz="8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IN" sz="1800" b="1" u="sng" dirty="0">
                <a:solidFill>
                  <a:schemeClr val="tx2"/>
                </a:solidFill>
              </a:rPr>
              <a:t>Patient Dashboard-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Register/Login → Submit Health Form → View Prescribed Therapies → Track Progress → Get Reminders.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Provide feedback on therapy sessions &amp; overall experience.</a:t>
            </a:r>
          </a:p>
          <a:p>
            <a:pPr marL="0" indent="0">
              <a:buNone/>
            </a:pPr>
            <a:r>
              <a:rPr lang="en-US" sz="1800" b="1" u="sng" dirty="0">
                <a:solidFill>
                  <a:schemeClr val="tx2"/>
                </a:solidFill>
              </a:rPr>
              <a:t>Doctor Panel-</a:t>
            </a:r>
          </a:p>
          <a:p>
            <a:r>
              <a:rPr lang="en-US" sz="1800" dirty="0">
                <a:solidFill>
                  <a:schemeClr val="tx2"/>
                </a:solidFill>
              </a:rPr>
              <a:t>View patient history &amp; reports.</a:t>
            </a:r>
          </a:p>
          <a:p>
            <a:r>
              <a:rPr lang="es-ES" sz="1800" dirty="0">
                <a:solidFill>
                  <a:schemeClr val="tx2"/>
                </a:solidFill>
              </a:rPr>
              <a:t>Prescribe </a:t>
            </a:r>
            <a:r>
              <a:rPr lang="es-ES" sz="1800" dirty="0" err="1">
                <a:solidFill>
                  <a:schemeClr val="tx2"/>
                </a:solidFill>
              </a:rPr>
              <a:t>Panchakarma</a:t>
            </a:r>
            <a:r>
              <a:rPr lang="es-ES" sz="1800" dirty="0">
                <a:solidFill>
                  <a:schemeClr val="tx2"/>
                </a:solidFill>
              </a:rPr>
              <a:t> </a:t>
            </a:r>
            <a:r>
              <a:rPr lang="es-ES" sz="1800" dirty="0" err="1">
                <a:solidFill>
                  <a:schemeClr val="tx2"/>
                </a:solidFill>
              </a:rPr>
              <a:t>therapies</a:t>
            </a:r>
            <a:r>
              <a:rPr lang="es-ES" sz="1800" dirty="0">
                <a:solidFill>
                  <a:schemeClr val="tx2"/>
                </a:solidFill>
              </a:rPr>
              <a:t> (</a:t>
            </a:r>
            <a:r>
              <a:rPr lang="es-ES" sz="1800" dirty="0" err="1">
                <a:solidFill>
                  <a:schemeClr val="tx2"/>
                </a:solidFill>
              </a:rPr>
              <a:t>Abhyanga</a:t>
            </a:r>
            <a:r>
              <a:rPr lang="es-ES" sz="1800" dirty="0">
                <a:solidFill>
                  <a:schemeClr val="tx2"/>
                </a:solidFill>
              </a:rPr>
              <a:t>, </a:t>
            </a:r>
            <a:r>
              <a:rPr lang="es-ES" sz="1800" dirty="0" err="1">
                <a:solidFill>
                  <a:schemeClr val="tx2"/>
                </a:solidFill>
              </a:rPr>
              <a:t>Vamana</a:t>
            </a:r>
            <a:r>
              <a:rPr lang="es-ES" sz="1800" dirty="0">
                <a:solidFill>
                  <a:schemeClr val="tx2"/>
                </a:solidFill>
              </a:rPr>
              <a:t>, </a:t>
            </a:r>
            <a:r>
              <a:rPr lang="es-ES" sz="1800" dirty="0" err="1">
                <a:solidFill>
                  <a:schemeClr val="tx2"/>
                </a:solidFill>
              </a:rPr>
              <a:t>Basti</a:t>
            </a:r>
            <a:r>
              <a:rPr lang="es-ES" sz="1800" dirty="0">
                <a:solidFill>
                  <a:schemeClr val="tx2"/>
                </a:solidFill>
              </a:rPr>
              <a:t>, etc.).</a:t>
            </a:r>
          </a:p>
          <a:p>
            <a:r>
              <a:rPr lang="en-US" sz="1800" dirty="0">
                <a:solidFill>
                  <a:schemeClr val="tx2"/>
                </a:solidFill>
              </a:rPr>
              <a:t>Assign therapists &amp; monitor outcomes digitally.</a:t>
            </a:r>
          </a:p>
          <a:p>
            <a:pPr marL="0" indent="0">
              <a:buNone/>
            </a:pPr>
            <a:r>
              <a:rPr lang="en-US" sz="1800" b="1" u="sng" dirty="0">
                <a:solidFill>
                  <a:schemeClr val="tx2"/>
                </a:solidFill>
              </a:rPr>
              <a:t>Therapist Panel-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Receive assigned therapies.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Manage schedules via weekly calendar.</a:t>
            </a:r>
          </a:p>
          <a:p>
            <a:r>
              <a:rPr lang="en-US" sz="1800" dirty="0">
                <a:solidFill>
                  <a:schemeClr val="tx2"/>
                </a:solidFill>
              </a:rPr>
              <a:t>Conduct sessions &amp; update records.</a:t>
            </a:r>
          </a:p>
          <a:p>
            <a:pPr marL="0" indent="0">
              <a:buNone/>
            </a:pPr>
            <a:r>
              <a:rPr lang="en-US" sz="1800" b="1" u="sng" dirty="0">
                <a:solidFill>
                  <a:schemeClr val="tx2"/>
                </a:solidFill>
              </a:rPr>
              <a:t>Admin Panel-</a:t>
            </a:r>
          </a:p>
          <a:p>
            <a:r>
              <a:rPr lang="en-US" sz="1800" dirty="0">
                <a:solidFill>
                  <a:schemeClr val="tx2"/>
                </a:solidFill>
              </a:rPr>
              <a:t>Manages users, resources, and therapy schedules.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Generates analytics &amp; reports.</a:t>
            </a:r>
          </a:p>
          <a:p>
            <a:pPr marL="0" indent="0">
              <a:buNone/>
            </a:pPr>
            <a:endParaRPr lang="en-US" sz="2000" b="1" u="sng" dirty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0CF95-7336-C056-56C9-8B975E1D3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D114D-EA29-7D03-1A08-D44255A2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3" name="Picture 2" descr="https://www.sih.gov.in/img1/SIH-Logo.png">
            <a:extLst>
              <a:ext uri="{FF2B5EF4-FFF2-40B4-BE49-F238E27FC236}">
                <a16:creationId xmlns:a16="http://schemas.microsoft.com/office/drawing/2014/main" id="{D1CC61CB-2DE9-1AE0-1039-2650ED4E5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013" y="136522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itle 23" descr="Your startup LOGO">
            <a:extLst>
              <a:ext uri="{FF2B5EF4-FFF2-40B4-BE49-F238E27FC236}">
                <a16:creationId xmlns:a16="http://schemas.microsoft.com/office/drawing/2014/main" id="{AC8ED79D-E50D-6531-B4B1-24A0DC468E6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67" y="153183"/>
            <a:ext cx="1295400" cy="81650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Your Team Name</a:t>
            </a:r>
            <a:endParaRPr lang="en-IN" sz="1400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3058DF5-FD4C-2B1E-9055-245F0B082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67" y="1083733"/>
            <a:ext cx="381053" cy="495369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D5E5925-B67E-3A5F-DEE5-79E4DABC6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5"/>
            <a:ext cx="12192000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3513099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DCE4-FC92-DA90-14D5-BB8E980A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						              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F15E2-3EFB-9048-8DD5-3723A4779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79521"/>
            <a:ext cx="10972800" cy="4846641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>
                <a:solidFill>
                  <a:schemeClr val="tx2"/>
                </a:solidFill>
              </a:rPr>
              <a:t>How it Addresses the Problem-</a:t>
            </a:r>
          </a:p>
          <a:p>
            <a:pPr marL="0" indent="0">
              <a:buNone/>
            </a:pPr>
            <a:endParaRPr lang="en-IN" sz="800" b="1" u="sng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1800" b="1" u="sng" dirty="0">
                <a:solidFill>
                  <a:schemeClr val="tx2"/>
                </a:solidFill>
              </a:rPr>
              <a:t>Patient Side-</a:t>
            </a:r>
          </a:p>
          <a:p>
            <a:r>
              <a:rPr lang="en-US" sz="1600" dirty="0">
                <a:solidFill>
                  <a:schemeClr val="tx2"/>
                </a:solidFill>
              </a:rPr>
              <a:t>Digital health forms &amp; records → removes manual paperwork.</a:t>
            </a:r>
          </a:p>
          <a:p>
            <a:r>
              <a:rPr lang="en-US" sz="1600" dirty="0">
                <a:solidFill>
                  <a:schemeClr val="tx2"/>
                </a:solidFill>
              </a:rPr>
              <a:t>Slot booking in movie-ticket style calendar → avoids confusion.</a:t>
            </a:r>
          </a:p>
          <a:p>
            <a:r>
              <a:rPr lang="en-US" sz="1600" dirty="0">
                <a:solidFill>
                  <a:schemeClr val="tx2"/>
                </a:solidFill>
              </a:rPr>
              <a:t>Track therapy progress &amp; give feedback easily.</a:t>
            </a:r>
          </a:p>
          <a:p>
            <a:pPr marL="0" indent="0">
              <a:buNone/>
            </a:pPr>
            <a:r>
              <a:rPr lang="en-IN" sz="1800" b="1" u="sng" dirty="0">
                <a:solidFill>
                  <a:schemeClr val="tx2"/>
                </a:solidFill>
              </a:rPr>
              <a:t>Doctor Side-</a:t>
            </a:r>
          </a:p>
          <a:p>
            <a:r>
              <a:rPr lang="en-US" sz="1600" dirty="0">
                <a:solidFill>
                  <a:schemeClr val="tx2"/>
                </a:solidFill>
              </a:rPr>
              <a:t>Quick access to patient history, reports &amp; requests.</a:t>
            </a:r>
          </a:p>
          <a:p>
            <a:r>
              <a:rPr lang="en-US" sz="1600" dirty="0">
                <a:solidFill>
                  <a:schemeClr val="tx2"/>
                </a:solidFill>
              </a:rPr>
              <a:t>Digital therapy assignment with duration &amp; frequency.</a:t>
            </a:r>
          </a:p>
          <a:p>
            <a:r>
              <a:rPr lang="en-IN" sz="1600" dirty="0">
                <a:solidFill>
                  <a:schemeClr val="tx2"/>
                </a:solidFill>
              </a:rPr>
              <a:t>Real-time communication with patients.</a:t>
            </a:r>
          </a:p>
          <a:p>
            <a:pPr marL="0" indent="0">
              <a:buNone/>
            </a:pPr>
            <a:r>
              <a:rPr lang="en-IN" sz="1800" b="1" u="sng" dirty="0">
                <a:solidFill>
                  <a:schemeClr val="tx2"/>
                </a:solidFill>
              </a:rPr>
              <a:t>Therapist Side-</a:t>
            </a:r>
          </a:p>
          <a:p>
            <a:r>
              <a:rPr lang="en-US" sz="1600" dirty="0">
                <a:solidFill>
                  <a:schemeClr val="tx2"/>
                </a:solidFill>
              </a:rPr>
              <a:t>Auto-generated weekly calendars reduce scheduling conflicts.</a:t>
            </a:r>
          </a:p>
          <a:p>
            <a:r>
              <a:rPr lang="en-US" sz="1600" dirty="0">
                <a:solidFill>
                  <a:schemeClr val="tx2"/>
                </a:solidFill>
              </a:rPr>
              <a:t>Add daily available slots &amp; update session records in real time.</a:t>
            </a:r>
          </a:p>
          <a:p>
            <a:pPr marL="0" indent="0">
              <a:buNone/>
            </a:pPr>
            <a:r>
              <a:rPr lang="en-IN" sz="1800" b="1" u="sng" dirty="0">
                <a:solidFill>
                  <a:schemeClr val="tx2"/>
                </a:solidFill>
              </a:rPr>
              <a:t>Admin Side-</a:t>
            </a:r>
          </a:p>
          <a:p>
            <a:r>
              <a:rPr lang="en-US" sz="1600" dirty="0">
                <a:solidFill>
                  <a:schemeClr val="tx2"/>
                </a:solidFill>
              </a:rPr>
              <a:t>Centralized management of users, appointments &amp; resources.</a:t>
            </a:r>
          </a:p>
          <a:p>
            <a:r>
              <a:rPr lang="en-US" sz="1600" dirty="0">
                <a:solidFill>
                  <a:schemeClr val="tx2"/>
                </a:solidFill>
              </a:rPr>
              <a:t>Generates reports &amp; analytics for better efficiency.</a:t>
            </a:r>
            <a:endParaRPr lang="en-IN" sz="1600" b="1" u="sng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IN" sz="1600" b="1" u="sng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IN" sz="1800" b="1" u="sng" dirty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6550D-E0A6-D817-3B06-83D2CDA7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AED0D-B990-C2C0-8079-12D9276D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2" descr="https://www.sih.gov.in/img1/SIH-Logo.png">
            <a:extLst>
              <a:ext uri="{FF2B5EF4-FFF2-40B4-BE49-F238E27FC236}">
                <a16:creationId xmlns:a16="http://schemas.microsoft.com/office/drawing/2014/main" id="{2533E59C-DC43-21FE-BF25-DF4CF84A7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013" y="136522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7D86983C-292B-E7EE-0BB4-6824F91DC71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1228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7B8F54-65BD-05E4-EEE2-F50F2F4EB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47" y="1279521"/>
            <a:ext cx="381053" cy="49536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0786EDD-B0A9-D889-6E1A-7C4616BAB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5"/>
            <a:ext cx="12192000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1876891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4B8D-FC22-9216-8AF8-C0018E74F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8667"/>
            <a:ext cx="10972800" cy="4517496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solidFill>
                  <a:schemeClr val="tx2"/>
                </a:solidFill>
              </a:rPr>
              <a:t>Innovation &amp; Uniqueness-</a:t>
            </a:r>
          </a:p>
          <a:p>
            <a:pPr marL="0" indent="0">
              <a:buNone/>
            </a:pPr>
            <a:endParaRPr lang="en-IN" sz="800" dirty="0">
              <a:solidFill>
                <a:schemeClr val="tx2"/>
              </a:solidFill>
            </a:endParaRPr>
          </a:p>
          <a:p>
            <a:r>
              <a:rPr lang="en-US" sz="1800" b="1" dirty="0">
                <a:solidFill>
                  <a:schemeClr val="tx2"/>
                </a:solidFill>
              </a:rPr>
              <a:t>Domain-Specific</a:t>
            </a:r>
            <a:r>
              <a:rPr lang="en-US" sz="1800" dirty="0">
                <a:solidFill>
                  <a:schemeClr val="tx2"/>
                </a:solidFill>
              </a:rPr>
              <a:t>: First solution focusing on Panchakarma therapy management.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Smart Scheduling</a:t>
            </a:r>
            <a:r>
              <a:rPr lang="en-US" sz="1800" dirty="0">
                <a:solidFill>
                  <a:schemeClr val="tx2"/>
                </a:solidFill>
              </a:rPr>
              <a:t>: Unique </a:t>
            </a:r>
            <a:r>
              <a:rPr lang="en-US" sz="1800" b="1" dirty="0">
                <a:solidFill>
                  <a:schemeClr val="tx2"/>
                </a:solidFill>
              </a:rPr>
              <a:t>slot-booking system</a:t>
            </a:r>
            <a:r>
              <a:rPr lang="en-US" sz="1800" dirty="0">
                <a:solidFill>
                  <a:schemeClr val="tx2"/>
                </a:solidFill>
              </a:rPr>
              <a:t> (like online movie tickets).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Digital Integration</a:t>
            </a:r>
            <a:r>
              <a:rPr lang="en-US" sz="1800" dirty="0">
                <a:solidFill>
                  <a:schemeClr val="tx2"/>
                </a:solidFill>
              </a:rPr>
              <a:t>: Built using </a:t>
            </a:r>
            <a:r>
              <a:rPr lang="en-US" sz="1800" b="1" dirty="0">
                <a:solidFill>
                  <a:schemeClr val="tx2"/>
                </a:solidFill>
              </a:rPr>
              <a:t>React.js + Spring Boot + MySQL.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Feedback-Driven Care</a:t>
            </a:r>
            <a:r>
              <a:rPr lang="en-US" sz="1800" dirty="0">
                <a:solidFill>
                  <a:schemeClr val="tx2"/>
                </a:solidFill>
              </a:rPr>
              <a:t>: Patient feedback loop improves therapy quality.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Scalable</a:t>
            </a:r>
            <a:r>
              <a:rPr lang="en-US" sz="1800" dirty="0">
                <a:solidFill>
                  <a:schemeClr val="tx2"/>
                </a:solidFill>
              </a:rPr>
              <a:t>: Can extend to other Ayurveda treatments &amp; multi-clinic support.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User-Friendly UI</a:t>
            </a:r>
            <a:r>
              <a:rPr lang="en-US" sz="1800" dirty="0">
                <a:solidFill>
                  <a:schemeClr val="tx2"/>
                </a:solidFill>
              </a:rPr>
              <a:t>: Simple dashboards + multilingual support for all users</a:t>
            </a:r>
          </a:p>
          <a:p>
            <a:pPr marL="0" indent="0">
              <a:buNone/>
            </a:pPr>
            <a:endParaRPr lang="en-IN" sz="1600" dirty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1774E-E732-F14F-3CAD-14C5FFBDF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43068-D86E-1BC3-8272-CE7DF0526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972E132A-66B1-F9EC-0BE6-E8E56738E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</a:t>
            </a:r>
          </a:p>
        </p:txBody>
      </p:sp>
      <p:sp>
        <p:nvSpPr>
          <p:cNvPr id="25" name="Oval 24" descr="Your startup LOGO">
            <a:extLst>
              <a:ext uri="{FF2B5EF4-FFF2-40B4-BE49-F238E27FC236}">
                <a16:creationId xmlns:a16="http://schemas.microsoft.com/office/drawing/2014/main" id="{DA07AEA9-DCED-C33B-85BA-8B02C5643C9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6" name="Picture 2" descr="https://www.sih.gov.in/img1/SIH-Logo.png">
            <a:extLst>
              <a:ext uri="{FF2B5EF4-FFF2-40B4-BE49-F238E27FC236}">
                <a16:creationId xmlns:a16="http://schemas.microsoft.com/office/drawing/2014/main" id="{FC64FC9B-3DBE-E0F8-817A-6F81D69F1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5734EDC-27BE-8206-ABEF-590FF723A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3"/>
            <a:ext cx="12192000" cy="50164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0715783-F0C9-8319-CF20-51EEA947E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47" y="1608667"/>
            <a:ext cx="381053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78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613958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8EDCA8-0CD2-824F-726D-B09CA44A6FD1}"/>
              </a:ext>
            </a:extLst>
          </p:cNvPr>
          <p:cNvSpPr txBox="1"/>
          <p:nvPr/>
        </p:nvSpPr>
        <p:spPr>
          <a:xfrm>
            <a:off x="550333" y="1481769"/>
            <a:ext cx="1103206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chemeClr val="tx2"/>
                </a:solidFill>
              </a:rPr>
              <a:t>Technologies to be Used-</a:t>
            </a:r>
          </a:p>
          <a:p>
            <a:endParaRPr lang="en-IN" sz="800" b="1" u="sng" dirty="0">
              <a:solidFill>
                <a:schemeClr val="tx2"/>
              </a:solidFill>
            </a:endParaRPr>
          </a:p>
          <a:p>
            <a:r>
              <a:rPr lang="en-IN" b="1" u="sng" dirty="0">
                <a:solidFill>
                  <a:schemeClr val="tx2"/>
                </a:solidFill>
              </a:rPr>
              <a:t>Frontend: </a:t>
            </a:r>
            <a:r>
              <a:rPr lang="en-IN" dirty="0">
                <a:solidFill>
                  <a:schemeClr val="tx2"/>
                </a:solidFill>
              </a:rPr>
              <a:t>HTML, CSS, JavaScript, React.js</a:t>
            </a:r>
          </a:p>
          <a:p>
            <a:r>
              <a:rPr lang="en-IN" b="1" u="sng" dirty="0">
                <a:solidFill>
                  <a:schemeClr val="tx2"/>
                </a:solidFill>
              </a:rPr>
              <a:t>Backend</a:t>
            </a:r>
            <a:r>
              <a:rPr lang="en-IN" dirty="0">
                <a:solidFill>
                  <a:schemeClr val="tx2"/>
                </a:solidFill>
              </a:rPr>
              <a:t>: Spring Boot</a:t>
            </a:r>
          </a:p>
          <a:p>
            <a:r>
              <a:rPr lang="en-IN" b="1" u="sng" dirty="0">
                <a:solidFill>
                  <a:schemeClr val="tx2"/>
                </a:solidFill>
              </a:rPr>
              <a:t>Database</a:t>
            </a:r>
            <a:r>
              <a:rPr lang="en-IN" dirty="0">
                <a:solidFill>
                  <a:schemeClr val="tx2"/>
                </a:solidFill>
              </a:rPr>
              <a:t>: MySQL </a:t>
            </a:r>
          </a:p>
          <a:p>
            <a:r>
              <a:rPr lang="en-IN" b="1" u="sng" dirty="0">
                <a:solidFill>
                  <a:schemeClr val="tx2"/>
                </a:solidFill>
              </a:rPr>
              <a:t>UX Design</a:t>
            </a:r>
            <a:r>
              <a:rPr lang="en-IN" dirty="0">
                <a:solidFill>
                  <a:schemeClr val="tx2"/>
                </a:solidFill>
              </a:rPr>
              <a:t>: Figma</a:t>
            </a:r>
          </a:p>
          <a:p>
            <a:r>
              <a:rPr lang="en-IN" b="1" u="sng" dirty="0">
                <a:solidFill>
                  <a:schemeClr val="tx2"/>
                </a:solidFill>
              </a:rPr>
              <a:t>Hardware</a:t>
            </a:r>
            <a:r>
              <a:rPr lang="en-IN" dirty="0">
                <a:solidFill>
                  <a:schemeClr val="tx2"/>
                </a:solidFill>
              </a:rPr>
              <a:t>: Any standard PC/Laptop (≥4GB RAM, browser-based access).</a:t>
            </a:r>
          </a:p>
          <a:p>
            <a:endParaRPr lang="en-IN" sz="800" dirty="0">
              <a:solidFill>
                <a:schemeClr val="tx2"/>
              </a:solidFill>
            </a:endParaRPr>
          </a:p>
          <a:p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Methodology and process for implementation-</a:t>
            </a:r>
          </a:p>
          <a:p>
            <a:endParaRPr lang="en-US" sz="8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IN" b="1" dirty="0">
                <a:solidFill>
                  <a:schemeClr val="tx2"/>
                </a:solidFill>
              </a:rPr>
              <a:t>Step 1: </a:t>
            </a:r>
            <a:r>
              <a:rPr lang="en-IN" b="1" u="sng" dirty="0">
                <a:solidFill>
                  <a:schemeClr val="tx2"/>
                </a:solidFill>
              </a:rPr>
              <a:t>Requirement Analysis-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Collect needs from patients, doctors, therapists, and admin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Identify problems: manual paperwork, scheduling conflicts, limited tracking.</a:t>
            </a:r>
          </a:p>
          <a:p>
            <a:r>
              <a:rPr lang="en-IN" b="1" dirty="0">
                <a:solidFill>
                  <a:schemeClr val="tx2"/>
                </a:solidFill>
              </a:rPr>
              <a:t>Step 2</a:t>
            </a:r>
            <a:r>
              <a:rPr lang="en-IN" b="1" u="sng" dirty="0">
                <a:solidFill>
                  <a:schemeClr val="tx2"/>
                </a:solidFill>
              </a:rPr>
              <a:t>: System Design-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Create </a:t>
            </a:r>
            <a:r>
              <a:rPr lang="en-IN" b="1" dirty="0">
                <a:solidFill>
                  <a:schemeClr val="tx2"/>
                </a:solidFill>
              </a:rPr>
              <a:t>wireframes in Figma</a:t>
            </a:r>
            <a:r>
              <a:rPr lang="en-IN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Define </a:t>
            </a:r>
            <a:r>
              <a:rPr lang="en-IN" b="1" dirty="0">
                <a:solidFill>
                  <a:schemeClr val="tx2"/>
                </a:solidFill>
              </a:rPr>
              <a:t>workflow diagrams</a:t>
            </a:r>
            <a:r>
              <a:rPr lang="en-IN" dirty="0">
                <a:solidFill>
                  <a:schemeClr val="tx2"/>
                </a:solidFill>
              </a:rPr>
              <a:t>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Patient → Doctor → Therapist → Admin flow.</a:t>
            </a:r>
            <a:endParaRPr lang="en-IN" b="1" u="sng" dirty="0">
              <a:solidFill>
                <a:schemeClr val="tx2"/>
              </a:solidFill>
            </a:endParaRPr>
          </a:p>
          <a:p>
            <a:endParaRPr lang="en-IN" b="1" u="sng" dirty="0">
              <a:solidFill>
                <a:schemeClr val="tx2"/>
              </a:solidFill>
            </a:endParaRPr>
          </a:p>
          <a:p>
            <a:endParaRPr lang="en-IN" b="1" u="sng" dirty="0">
              <a:solidFill>
                <a:schemeClr val="tx2"/>
              </a:solidFill>
            </a:endParaRPr>
          </a:p>
          <a:p>
            <a:endParaRPr lang="en-IN" b="1" u="sng" dirty="0">
              <a:solidFill>
                <a:schemeClr val="tx2"/>
              </a:solidFill>
            </a:endParaRPr>
          </a:p>
          <a:p>
            <a:r>
              <a:rPr lang="en-IN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      </a:t>
            </a:r>
            <a:endParaRPr lang="en-US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IN" sz="2800" b="1" u="sng" dirty="0">
              <a:solidFill>
                <a:schemeClr val="tx2"/>
              </a:solidFill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3E0E6F1-DD23-7104-5EA4-7026A0993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20" y="1476002"/>
            <a:ext cx="381053" cy="49536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BF7989D4-D16B-D2AC-B2F9-071D4836F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06" y="3465178"/>
            <a:ext cx="381053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02C7C-6DAC-F4EF-75C0-0D524A488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03867"/>
            <a:ext cx="10972800" cy="4822296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Step 3: </a:t>
            </a:r>
            <a:r>
              <a:rPr lang="en-US" sz="2000" b="1" u="sng" dirty="0">
                <a:solidFill>
                  <a:schemeClr val="tx2"/>
                </a:solidFill>
              </a:rPr>
              <a:t>Frontend Development (React.js)-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Patient Dashboard</a:t>
            </a:r>
            <a:r>
              <a:rPr lang="en-US" sz="1800" dirty="0">
                <a:solidFill>
                  <a:schemeClr val="tx2"/>
                </a:solidFill>
              </a:rPr>
              <a:t>: Register, fill health form, view therapies, give feedback.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Doctor Panel</a:t>
            </a:r>
            <a:r>
              <a:rPr lang="en-US" sz="1800" dirty="0">
                <a:solidFill>
                  <a:schemeClr val="tx2"/>
                </a:solidFill>
              </a:rPr>
              <a:t>: View history, assign therapies, monitor outcomes.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Therapist Panel</a:t>
            </a:r>
            <a:r>
              <a:rPr lang="en-US" sz="1800" dirty="0">
                <a:solidFill>
                  <a:schemeClr val="tx2"/>
                </a:solidFill>
              </a:rPr>
              <a:t>: Manage schedules, add slots, conduct therapy sessions.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Admin Panel</a:t>
            </a:r>
            <a:r>
              <a:rPr lang="en-US" sz="1800" dirty="0">
                <a:solidFill>
                  <a:schemeClr val="tx2"/>
                </a:solidFill>
              </a:rPr>
              <a:t>: Manage users, resources, and reports.</a:t>
            </a:r>
            <a:endParaRPr lang="en-US" sz="1800" b="1" u="sng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Step 4: </a:t>
            </a:r>
            <a:r>
              <a:rPr lang="en-US" sz="2000" b="1" u="sng" dirty="0">
                <a:solidFill>
                  <a:schemeClr val="tx2"/>
                </a:solidFill>
              </a:rPr>
              <a:t>Backend &amp; Database Integration (Spring Boot + MySQL)-</a:t>
            </a:r>
          </a:p>
          <a:p>
            <a:r>
              <a:rPr lang="en-US" sz="1800" dirty="0">
                <a:solidFill>
                  <a:schemeClr val="tx2"/>
                </a:solidFill>
              </a:rPr>
              <a:t>Build </a:t>
            </a:r>
            <a:r>
              <a:rPr lang="en-US" sz="1800" b="1" dirty="0">
                <a:solidFill>
                  <a:schemeClr val="tx2"/>
                </a:solidFill>
              </a:rPr>
              <a:t>REST APIs</a:t>
            </a:r>
            <a:r>
              <a:rPr lang="en-US" sz="1800" dirty="0">
                <a:solidFill>
                  <a:schemeClr val="tx2"/>
                </a:solidFill>
              </a:rPr>
              <a:t> for patient records, prescriptions, therapy schedules.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Store patient data, therapy history, and session records securely.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</a:rPr>
              <a:t>Step 5: </a:t>
            </a:r>
            <a:r>
              <a:rPr lang="en-IN" sz="2000" b="1" u="sng" dirty="0">
                <a:solidFill>
                  <a:schemeClr val="tx2"/>
                </a:solidFill>
              </a:rPr>
              <a:t>Testing &amp; Deployment-</a:t>
            </a:r>
          </a:p>
          <a:p>
            <a:r>
              <a:rPr lang="en-US" sz="1800" dirty="0">
                <a:solidFill>
                  <a:schemeClr val="tx2"/>
                </a:solidFill>
              </a:rPr>
              <a:t>Test scheduling logic (avoid conflicts).</a:t>
            </a:r>
          </a:p>
          <a:p>
            <a:r>
              <a:rPr lang="en-US" sz="1800" dirty="0">
                <a:solidFill>
                  <a:schemeClr val="tx2"/>
                </a:solidFill>
              </a:rPr>
              <a:t>Secure login &amp; role-based access for all users.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Deploy frontend (Netlify/GitHub Pages) + backend (Spring Boot server).</a:t>
            </a:r>
            <a:endParaRPr lang="en-IN" sz="1800" b="1" u="sng" dirty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1320F-6CC1-9F17-7435-08FE7D65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A3B9B-B21A-D387-923C-3CD9D79E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A43B7845-E7D6-5AFC-97EC-BCA883E423A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5487FE5-831F-461E-770F-68F860E9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6"/>
            <a:ext cx="10972800" cy="1351493"/>
          </a:xfrm>
        </p:spPr>
        <p:txBody>
          <a:bodyPr/>
          <a:lstStyle/>
          <a:p>
            <a:r>
              <a:rPr lang="en-IN" dirty="0"/>
              <a:t>                         </a:t>
            </a:r>
          </a:p>
        </p:txBody>
      </p:sp>
      <p:pic>
        <p:nvPicPr>
          <p:cNvPr id="13" name="Picture 2" descr="https://www.sih.gov.in/img1/SIH-Logo.png">
            <a:extLst>
              <a:ext uri="{FF2B5EF4-FFF2-40B4-BE49-F238E27FC236}">
                <a16:creationId xmlns:a16="http://schemas.microsoft.com/office/drawing/2014/main" id="{7D55F5AA-8802-0F31-BDD1-480CCDB20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0907" y="87602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260FBC2-3DA9-B57C-AF54-E792554DD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050" dirty="0">
                <a:solidFill>
                  <a:schemeClr val="bg1"/>
                </a:solidFill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2276006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A9AA6-50C7-5C25-A952-81FE373D1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u="sng" dirty="0">
                <a:solidFill>
                  <a:schemeClr val="tx2"/>
                </a:solidFill>
              </a:rPr>
              <a:t>Flowchart (Working Prototype Flow)-</a:t>
            </a:r>
          </a:p>
          <a:p>
            <a:pPr marL="0" indent="0">
              <a:buNone/>
            </a:pPr>
            <a:r>
              <a:rPr lang="en-IN" sz="1800" b="1" u="sng" dirty="0">
                <a:solidFill>
                  <a:schemeClr val="tx2"/>
                </a:solidFill>
              </a:rPr>
              <a:t>Patient-</a:t>
            </a:r>
          </a:p>
          <a:p>
            <a:r>
              <a:rPr lang="en-IN" sz="1800" dirty="0">
                <a:solidFill>
                  <a:schemeClr val="tx2"/>
                </a:solidFill>
              </a:rPr>
              <a:t>Registers/Login → Submits Symptoms Form → Selects Doctor → Views Therapy Schedule → Books Slot →                                Tracks Progress → Gives Feedback</a:t>
            </a:r>
          </a:p>
          <a:p>
            <a:pPr marL="0" indent="0">
              <a:buNone/>
            </a:pPr>
            <a:r>
              <a:rPr lang="en-IN" sz="1800" dirty="0"/>
              <a:t>⬇</a:t>
            </a:r>
          </a:p>
          <a:p>
            <a:pPr marL="0" indent="0">
              <a:buNone/>
            </a:pPr>
            <a:r>
              <a:rPr lang="en-IN" sz="1800" b="1" u="sng" dirty="0">
                <a:solidFill>
                  <a:schemeClr val="tx2"/>
                </a:solidFill>
              </a:rPr>
              <a:t>Doctor-</a:t>
            </a:r>
          </a:p>
          <a:p>
            <a:r>
              <a:rPr lang="en-US" sz="1800" dirty="0">
                <a:solidFill>
                  <a:schemeClr val="tx2"/>
                </a:solidFill>
              </a:rPr>
              <a:t>Views Consultation Request → Reviews Records → Prescribes Therapy (type, duration, frequency) → Assigns Therapist → Monitors Reports</a:t>
            </a:r>
          </a:p>
          <a:p>
            <a:pPr marL="0" indent="0">
              <a:buNone/>
            </a:pPr>
            <a:r>
              <a:rPr lang="en-IN" sz="1800" dirty="0"/>
              <a:t>⬇</a:t>
            </a:r>
          </a:p>
          <a:p>
            <a:pPr marL="0" indent="0">
              <a:buNone/>
            </a:pPr>
            <a:r>
              <a:rPr lang="en-IN" sz="1800" b="1" u="sng" dirty="0">
                <a:solidFill>
                  <a:schemeClr val="tx2"/>
                </a:solidFill>
              </a:rPr>
              <a:t>Therapist-</a:t>
            </a:r>
          </a:p>
          <a:p>
            <a:r>
              <a:rPr lang="en-US" sz="1800" dirty="0">
                <a:solidFill>
                  <a:schemeClr val="tx2"/>
                </a:solidFill>
              </a:rPr>
              <a:t>Gets Notification of Assigned Patient → Opens Weekly Calendar → Adds Available Slots → Conducts Sessions → Updates Records</a:t>
            </a:r>
          </a:p>
          <a:p>
            <a:pPr marL="0" indent="0">
              <a:buNone/>
            </a:pPr>
            <a:r>
              <a:rPr lang="en-IN" sz="1800" dirty="0"/>
              <a:t>⬇</a:t>
            </a:r>
          </a:p>
          <a:p>
            <a:pPr marL="0" indent="0">
              <a:buNone/>
            </a:pPr>
            <a:r>
              <a:rPr lang="en-IN" sz="1800" b="1" u="sng" dirty="0">
                <a:solidFill>
                  <a:schemeClr val="tx2"/>
                </a:solidFill>
              </a:rPr>
              <a:t>Admin-</a:t>
            </a:r>
          </a:p>
          <a:p>
            <a:r>
              <a:rPr lang="en-US" sz="1800" dirty="0">
                <a:solidFill>
                  <a:schemeClr val="tx2"/>
                </a:solidFill>
              </a:rPr>
              <a:t>Oversees Patients, Doctors, Therapists → Manages Appointments &amp; Resources → Generates Reports &amp; Analytics</a:t>
            </a:r>
            <a:endParaRPr lang="en-IN" sz="1800" b="1" u="sng" dirty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0EEC3-0DFC-717B-F307-22FFB8990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BCC1-A195-36C9-D62A-887685876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B2D9667E-321E-F8CA-AA70-AA5C823DB11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559E325-B671-68FA-D1BF-0778754B8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</a:t>
            </a:r>
          </a:p>
        </p:txBody>
      </p:sp>
      <p:pic>
        <p:nvPicPr>
          <p:cNvPr id="10" name="Picture 2" descr="https://www.sih.gov.in/img1/SIH-Logo.png">
            <a:extLst>
              <a:ext uri="{FF2B5EF4-FFF2-40B4-BE49-F238E27FC236}">
                <a16:creationId xmlns:a16="http://schemas.microsoft.com/office/drawing/2014/main" id="{FE16FFB6-ED52-7EC2-8F13-591B6955B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0907" y="87602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12412F-657E-5038-ACA3-FECDC042A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20" y="1059580"/>
            <a:ext cx="381053" cy="49536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4B3E7BD-3968-5165-1EE7-462F6D752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3"/>
            <a:ext cx="12192000" cy="50164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4088028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77000"/>
            <a:ext cx="12191999" cy="3810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77000"/>
            <a:ext cx="3204000" cy="244478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E82C76-82E6-8A9D-D527-80F983B5E639}"/>
              </a:ext>
            </a:extLst>
          </p:cNvPr>
          <p:cNvSpPr txBox="1"/>
          <p:nvPr/>
        </p:nvSpPr>
        <p:spPr>
          <a:xfrm>
            <a:off x="524933" y="1295400"/>
            <a:ext cx="11252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tx2"/>
                </a:solidFill>
              </a:rPr>
              <a:t>Feasibility, Challenges &amp; Solutions-</a:t>
            </a:r>
          </a:p>
          <a:p>
            <a:endParaRPr lang="en-IN" sz="2000" b="1" u="sng" dirty="0">
              <a:solidFill>
                <a:schemeClr val="tx2"/>
              </a:solidFill>
            </a:endParaRPr>
          </a:p>
          <a:p>
            <a:endParaRPr lang="en-IN" sz="2000" b="1" u="sng" dirty="0">
              <a:solidFill>
                <a:schemeClr val="tx2"/>
              </a:solidFill>
            </a:endParaRPr>
          </a:p>
        </p:txBody>
      </p:sp>
      <p:pic>
        <p:nvPicPr>
          <p:cNvPr id="8" name="table">
            <a:extLst>
              <a:ext uri="{FF2B5EF4-FFF2-40B4-BE49-F238E27FC236}">
                <a16:creationId xmlns:a16="http://schemas.microsoft.com/office/drawing/2014/main" id="{BB24F6D8-861A-088F-7DA2-31CC08740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1752600"/>
            <a:ext cx="8229600" cy="458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605492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table">
            <a:extLst>
              <a:ext uri="{FF2B5EF4-FFF2-40B4-BE49-F238E27FC236}">
                <a16:creationId xmlns:a16="http://schemas.microsoft.com/office/drawing/2014/main" id="{E799F3CE-7492-9296-68BE-FB5FF58EA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630" y="1171815"/>
            <a:ext cx="8629170" cy="480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839CD-949D-D889-C44A-2878869C9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4400" dirty="0"/>
              <a:t>                      </a:t>
            </a:r>
            <a:r>
              <a:rPr lang="en-IN" sz="6600" b="1" dirty="0">
                <a:solidFill>
                  <a:srgbClr val="0070C0"/>
                </a:solidFill>
                <a:latin typeface="Felix Titling" panose="04060505060202020A04" pitchFamily="82" charset="0"/>
              </a:rPr>
              <a:t>Thank You!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ECC59-9B4F-7C51-2701-5FAD1FB3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CA7B4-0935-1437-2E78-81FB9369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F863BFEF-3B17-8F28-A709-A001468622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41D705D-F0B5-1617-3D0A-EB38639B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</a:t>
            </a:r>
          </a:p>
        </p:txBody>
      </p:sp>
      <p:pic>
        <p:nvPicPr>
          <p:cNvPr id="10" name="Picture 2" descr="https://www.sih.gov.in/img1/SIH-Logo.png">
            <a:extLst>
              <a:ext uri="{FF2B5EF4-FFF2-40B4-BE49-F238E27FC236}">
                <a16:creationId xmlns:a16="http://schemas.microsoft.com/office/drawing/2014/main" id="{F99659FA-8AC6-D248-5BEF-3EB9761FF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3107" y="8302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61E97E-4861-F03D-3F9B-A6D5BCE34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3"/>
            <a:ext cx="12192000" cy="50164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2167805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10916</TotalTime>
  <Words>826</Words>
  <Application>Microsoft Office PowerPoint</Application>
  <PresentationFormat>Widescreen</PresentationFormat>
  <Paragraphs>154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ＭＳ Ｐゴシック</vt:lpstr>
      <vt:lpstr>Arial</vt:lpstr>
      <vt:lpstr>Calibri</vt:lpstr>
      <vt:lpstr>Felix Titling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Your Team Name</vt:lpstr>
      <vt:lpstr>                                  </vt:lpstr>
      <vt:lpstr>                           </vt:lpstr>
      <vt:lpstr>TECHNICAL APPROACH</vt:lpstr>
      <vt:lpstr>                         </vt:lpstr>
      <vt:lpstr>                         </vt:lpstr>
      <vt:lpstr>FEASIBILITY AND VIABILITY</vt:lpstr>
      <vt:lpstr>IMPACT AND BENEFITS</vt:lpstr>
      <vt:lpstr>                        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Pari Jain</cp:lastModifiedBy>
  <cp:revision>151</cp:revision>
  <dcterms:created xsi:type="dcterms:W3CDTF">2013-12-12T18:46:50Z</dcterms:created>
  <dcterms:modified xsi:type="dcterms:W3CDTF">2025-09-06T15:40:43Z</dcterms:modified>
  <cp:category/>
</cp:coreProperties>
</file>